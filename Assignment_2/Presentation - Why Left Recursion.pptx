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HK Grotesk" panose="020B0604020202020204" charset="0"/>
      <p:regular r:id="rId15"/>
    </p:embeddedFont>
    <p:embeddedFont>
      <p:font typeface="HK Grotesk Bold" panose="020B0604020202020204" charset="0"/>
      <p:regular r:id="rId16"/>
    </p:embeddedFont>
    <p:embeddedFont>
      <p:font typeface="Noto Serif Display ExtraCondensed Light" panose="020B0604020202020204"/>
      <p:regular r:id="rId17"/>
    </p:embeddedFont>
    <p:embeddedFont>
      <p:font typeface="HK Grotesk Semi-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>
                <a:solidFill>
                  <a:srgbClr val="E0E6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Parsers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669155"/>
            <a:ext cx="14434142" cy="4909451"/>
            <a:chOff x="0" y="266700"/>
            <a:chExt cx="19245523" cy="6545935"/>
          </a:xfrm>
        </p:grpSpPr>
        <p:sp>
          <p:nvSpPr>
            <p:cNvPr id="4" name="TextBox 4"/>
            <p:cNvSpPr txBox="1"/>
            <p:nvPr/>
          </p:nvSpPr>
          <p:spPr>
            <a:xfrm>
              <a:off x="0" y="6233160"/>
              <a:ext cx="19245523" cy="57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Yonatan Ayisheshim</a:t>
              </a:r>
              <a:r>
                <a:rPr lang="en-US" sz="2799" u="none" dirty="0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BDU1508377, </a:t>
              </a:r>
              <a:r>
                <a:rPr lang="en-US" sz="2799" u="none" dirty="0" smtClean="0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Instructor </a:t>
              </a:r>
              <a:r>
                <a:rPr lang="en-US" sz="2799" u="none" dirty="0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Name: </a:t>
              </a:r>
              <a:r>
                <a:rPr lang="en-US" sz="2799" u="none" dirty="0" err="1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Lec</a:t>
              </a:r>
              <a:r>
                <a:rPr lang="en-US" sz="2799" u="none" dirty="0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 </a:t>
              </a:r>
              <a:r>
                <a:rPr lang="en-US" sz="2799" u="none" dirty="0" err="1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Wendimu</a:t>
              </a:r>
              <a:endParaRPr lang="en-US" sz="2799" u="none" dirty="0">
                <a:solidFill>
                  <a:srgbClr val="E0E6F0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66700"/>
              <a:ext cx="19245523" cy="5097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400"/>
                </a:lnSpc>
              </a:pPr>
              <a:r>
                <a:rPr lang="en-US" sz="14400" spc="-288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Why Remove Left Recursion?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038600"/>
            <a:ext cx="12639675" cy="2209800"/>
            <a:chOff x="0" y="0"/>
            <a:chExt cx="16852900" cy="29464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68529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Objectives &amp;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87600"/>
              <a:ext cx="168529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Left Recursion in LL Parsers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6886575" cy="3581400"/>
            <a:chOff x="0" y="0"/>
            <a:chExt cx="9182100" cy="4775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182100" cy="3395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Context of Syntax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1640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the Parsing Process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296400" y="5676900"/>
            <a:ext cx="6886575" cy="2705100"/>
            <a:chOff x="0" y="0"/>
            <a:chExt cx="9182100" cy="3606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Role of the Syntax Analyzer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93800"/>
              <a:ext cx="9182100" cy="2413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syntax analyzer is crucial as it converts tokens generated during lexical analysis into structured parse trees. LL parsing operates from the top-down, validating syntax using Context-Free Grammars (CFGs).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5" cy="2343150"/>
            <a:chOff x="0" y="0"/>
            <a:chExt cx="9182100" cy="3124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Direct Left Recursion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Direct left recursion occurs when a non-terminal directly references itself in its production, leading to immediate repetition without consuming any input, causing infinite loops during parsing.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Indirect Left Recursion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Indirect left recursion arises when a non-terminal refers to another non-terminal that eventually leads back to itself, creating a cycle that complicates parsing and can also cause infinite recursion.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What is Left Recursion?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direct and indirect forms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400425"/>
            <a:chOff x="0" y="0"/>
            <a:chExt cx="5346700" cy="45339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Non-Terminal Expansion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44600"/>
              <a:ext cx="53467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An LL parser attempts to expand a non-terminal before consuming any input tokens, leading to potential issues when faced with recursive rules in the grammar structure.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429000"/>
            <a:chOff x="0" y="0"/>
            <a:chExt cx="5346700" cy="4572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Infinite Recursion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82700"/>
              <a:ext cx="53467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Left recursion introduces infinite recursion, as the parser recursively calls the non-terminal without consuming any input, resulting in a loop that never terminates or progresses.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400425"/>
            <a:chOff x="0" y="0"/>
            <a:chExt cx="5346700" cy="45339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Predictive Failure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44600"/>
              <a:ext cx="53467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Due to infinite recursion, the parser's lookahead token remains unchanged, preventing it from making any predictive decisions on how to proceed with the parsing process.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Core Conflict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LL Parser Limitations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00625" y="5131506"/>
            <a:ext cx="14907864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676775" y="4912022"/>
            <a:ext cx="438967" cy="43896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0E6F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91600" y="4912022"/>
            <a:ext cx="438967" cy="43896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0E6F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06425" y="4912022"/>
            <a:ext cx="438967" cy="4389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0E6F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1756410"/>
            <a:ext cx="158210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u="none" strike="noStrike" spc="-192">
                <a:solidFill>
                  <a:srgbClr val="F7F9F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Non-Determinism in LL(1) Parsing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6775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E0E6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Left Recursion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6775" y="5893506"/>
            <a:ext cx="3181350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E0E6F0"/>
                </a:solidFill>
                <a:latin typeface="HK Grotesk"/>
                <a:ea typeface="HK Grotesk"/>
                <a:cs typeface="HK Grotesk"/>
                <a:sym typeface="HK Grotesk"/>
              </a:rPr>
              <a:t>Left recursion in grammar leads to ambiguous multiple entries in LL(1) parsing tables.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91600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E0E6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Ambiguous Entries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91600" y="5893506"/>
            <a:ext cx="3181350" cy="180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E0E6F0"/>
                </a:solidFill>
                <a:latin typeface="HK Grotesk"/>
                <a:ea typeface="HK Grotesk"/>
                <a:cs typeface="HK Grotesk"/>
                <a:sym typeface="HK Grotesk"/>
              </a:rPr>
              <a:t>Multiple entries in the same cell create non-determinism for the parser's selection process.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06425" y="3962400"/>
            <a:ext cx="318135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E0E6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Parsing Failure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06425" y="5893506"/>
            <a:ext cx="318135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E0E6F0"/>
                </a:solidFill>
                <a:latin typeface="HK Grotesk"/>
                <a:ea typeface="HK Grotesk"/>
                <a:cs typeface="HK Grotesk"/>
                <a:sym typeface="HK Grotesk"/>
              </a:rPr>
              <a:t>The inability to deterministically choose productions results in syntax analysis failures.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694" b="-694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0" y="666750"/>
            <a:ext cx="92964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0" y="9620250"/>
            <a:ext cx="92964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66750" y="1743920"/>
            <a:ext cx="6886575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7F9F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Visualizing Left Recursion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5829300"/>
            <a:ext cx="5448300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en-US" sz="2400" u="none" strike="noStrike">
                <a:solidFill>
                  <a:srgbClr val="E0E6F0"/>
                </a:solidFill>
                <a:latin typeface="HK Grotesk"/>
                <a:ea typeface="HK Grotesk"/>
                <a:cs typeface="HK Grotesk"/>
                <a:sym typeface="HK Grotesk"/>
              </a:rPr>
              <a:t>In a left-recursive grammar, the parse tree continually expands leftward, creating an infinite loop. The lookahead token remains unchanged, halting progress as the parser repeatedly attempts to expand the leftmost non-terminal without consuming any input tokens.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038850"/>
            <a:ext cx="6886575" cy="2343150"/>
            <a:chOff x="0" y="0"/>
            <a:chExt cx="9182100" cy="3124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Transformation Rule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eliminate left recursion, we transform the grammar from A → Aα | β to A → β A′, ensuring the base case is matched first, then handles repetitions.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038850"/>
            <a:ext cx="6886575" cy="2343150"/>
            <a:chOff x="0" y="0"/>
            <a:chExt cx="9182100" cy="3124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Correctness Preservation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80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transformation preserves the language's correctness, allowing the parser to operate predictively, thus avoiding infinite loops and ensuring reliable syntax analysis in LL parsers.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The Solution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Eliminating Direct Left Recursion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9144000" y="2038350"/>
            <a:ext cx="6886575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 → β A′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A′ → α A′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A′ → 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333750"/>
            <a:chOff x="0" y="0"/>
            <a:chExt cx="5346700" cy="4445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Unsafe Implementation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unsafe implementation of the recursive descent parser begins with a function that recursively calls itself before consuming any input, leading to potential infinite loops and stack overflow issues.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362325"/>
            <a:chOff x="0" y="0"/>
            <a:chExt cx="5346700" cy="4483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Safe Implementation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 the safe implementation, the function first checks for the base case, ensuring that input is consumed appropriately before any recursive calls, effectively preventing infinite recursion and enhancing reliability.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333750"/>
            <a:chOff x="0" y="0"/>
            <a:chExt cx="5346700" cy="44450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Transition Explanation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5"/>
                </a:lnSpc>
                <a:spcBef>
                  <a:spcPct val="0"/>
                </a:spcBef>
              </a:pPr>
              <a:r>
                <a:rPr lang="en-US" sz="2279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transition from unsafe to safe coding practices illustrates the necessity of removing left recursion in parsers, highlighting how proper design principles improve parser performance and correctness.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Code Snippet Example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Demonstrating Unsafe and Safe Implementation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1429256" y="1019175"/>
            <a:ext cx="5830044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Unsafe example: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function parse(input) {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 return parse(input); // never stops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}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endParaRPr lang="en-US" sz="2775" b="1">
              <a:solidFill>
                <a:srgbClr val="FFFFFF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Safe example: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function parse(input) {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 if (!input) return null;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  return handle(input);</a:t>
            </a:r>
          </a:p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05820"/>
            <a:ext cx="5448300" cy="193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25"/>
              </a:lnSpc>
            </a:pPr>
            <a:r>
              <a:rPr lang="en-US" sz="7425" spc="-148">
                <a:solidFill>
                  <a:srgbClr val="F7F9F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Grammar Transformations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905500"/>
            <a:ext cx="5448300" cy="2819400"/>
            <a:chOff x="0" y="0"/>
            <a:chExt cx="7264400" cy="37592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7"/>
                </a:lnSpc>
              </a:pPr>
              <a:r>
                <a:rPr lang="en-US" sz="2764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Indirect Left Recursion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39800"/>
              <a:ext cx="72644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25"/>
                </a:lnSpc>
              </a:pPr>
              <a:r>
                <a:rPr lang="en-US" sz="2354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Understanding </a:t>
              </a:r>
              <a:r>
                <a:rPr lang="en-US" sz="2354" b="1" u="none" strike="noStrike">
                  <a:solidFill>
                    <a:srgbClr val="E0E6F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indirect left recursion</a:t>
              </a:r>
              <a:r>
                <a:rPr lang="en-US" sz="2354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is critical for effective syntax analysis. We illustrate grammar transformations with clear parse trees demonstrating the process before and after left recursion removal.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694" b="-69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544830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7F9F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Real-World Tools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848350"/>
            <a:ext cx="5448300" cy="2876550"/>
            <a:chOff x="0" y="0"/>
            <a:chExt cx="7264400" cy="3835400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72644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Compiler Examples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39800"/>
              <a:ext cx="7264400" cy="289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E0E6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YACC and Bison, though primarily bottom-up parsers, handle left recursion differently. ANTLR requires left recursion removal for effective LL parsing and grammar processing in compilers.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w="19050" cap="flat">
            <a:solidFill>
              <a:srgbClr val="A3B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w="19050" cap="flat">
            <a:solidFill>
              <a:srgbClr val="A3B9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401935" y="0"/>
            <a:ext cx="7886065" cy="10287000"/>
            <a:chOff x="0" y="0"/>
            <a:chExt cx="1221758" cy="1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1758" cy="1593725"/>
            </a:xfrm>
            <a:custGeom>
              <a:avLst/>
              <a:gdLst/>
              <a:ahLst/>
              <a:cxnLst/>
              <a:rect l="l" t="t" r="r" b="b"/>
              <a:pathLst>
                <a:path w="1221758" h="1593725">
                  <a:moveTo>
                    <a:pt x="0" y="0"/>
                  </a:moveTo>
                  <a:lnTo>
                    <a:pt x="1221758" y="0"/>
                  </a:lnTo>
                  <a:lnTo>
                    <a:pt x="122175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6384" r="-1638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4704" y="1605776"/>
            <a:ext cx="126396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 smtClean="0">
                <a:solidFill>
                  <a:srgbClr val="F7F9FC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Conclusion</a:t>
            </a:r>
            <a:endParaRPr lang="en-US" sz="9600" spc="-192" dirty="0">
              <a:solidFill>
                <a:srgbClr val="F7F9FC"/>
              </a:solidFill>
              <a:latin typeface="Noto Serif Display ExtraCondensed Light"/>
              <a:ea typeface="Noto Serif Display ExtraCondensed Light"/>
              <a:cs typeface="Noto Serif Display ExtraCondensed Light"/>
              <a:sym typeface="Noto Serif Display ExtraCondensed Light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94704" y="3630791"/>
            <a:ext cx="1465398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F7F9FC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Removing left recursion is essential for LL parsers to function correctly. It prevents infinite loops and allows parsers to build deterministic parsing tables using a single look ahead token.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799" b="1">
              <a:solidFill>
                <a:srgbClr val="F7F9FC"/>
              </a:solidFill>
              <a:latin typeface="HK Grotesk Semi-Bold"/>
              <a:ea typeface="HK Grotesk Semi-Bold"/>
              <a:cs typeface="HK Grotesk Semi-Bold"/>
              <a:sym typeface="HK Grotesk Semi-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8796" y="852059"/>
            <a:ext cx="12639675" cy="4333882"/>
            <a:chOff x="0" y="0"/>
            <a:chExt cx="16852900" cy="5778509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168529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7F9FC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References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102109"/>
              <a:ext cx="1685290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Aho et al., </a:t>
              </a: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Compilers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Grune &amp; Jacobs, Parsing Techniques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 u="none" strike="noStrike">
                  <a:solidFill>
                    <a:srgbClr val="E0E6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 Cooper &amp; Torczon, Engineering a Compiler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E0E6F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Custom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HK Grotesk</vt:lpstr>
      <vt:lpstr>Arial</vt:lpstr>
      <vt:lpstr>HK Grotesk Bold</vt:lpstr>
      <vt:lpstr>Noto Serif Display ExtraCondensed Light</vt:lpstr>
      <vt:lpstr>HK Grotesk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Why Left Recursion</dc:title>
  <dc:description>Presentation - Why Left Recursion</dc:description>
  <cp:lastModifiedBy>Yonatan Ayisheshim</cp:lastModifiedBy>
  <cp:revision>2</cp:revision>
  <dcterms:created xsi:type="dcterms:W3CDTF">2006-08-16T00:00:00Z</dcterms:created>
  <dcterms:modified xsi:type="dcterms:W3CDTF">2026-01-04T10:00:37Z</dcterms:modified>
  <dc:identifier>DAG9cZFzDZE</dc:identifier>
</cp:coreProperties>
</file>